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49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4087692-7D96-4B42-9C1F-EC1EE7ACD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60AD096-A41F-418C-8B39-1B9B6EEC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22EC6F-FC34-48F7-9784-1CD73EF1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9BA5A73-83E1-4570-9B66-4D08D73B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7B88F89-8F8C-438B-8E15-0EE85F1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23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4C4675-383E-4DFD-AA85-F4638A3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6BE347F-785F-40DB-B2E4-DF936DDA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86C95763-4BA0-4E11-B60A-0CC1511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626812B-AC19-48DF-82E0-1BEEB20A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41FF938-0E16-46D0-A6AF-B6E9624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47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34E3A0-FFC4-4040-AD3B-6B23AFD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B37582A-2044-4EDB-A03E-6F91AF20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1CB110-52A5-4D1C-914B-1BF04F5D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809B9A7-1400-424B-A784-40596D3C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8A8A5B0-C86F-41CA-95F4-8C9DDCB5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72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DA1665-29F2-4CE5-882D-8492D18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12088FE-1BB3-439A-8F5B-2D9C7B1C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50E44A3A-5CEF-4B78-8AE7-EE4DC7A0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57176E0-3A92-4B59-8A15-DA02CF5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60B7BE2-E7E5-4304-9E01-CCDC838E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9F92D8C-1E50-49B4-8C0B-DA270308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021975-0FDF-44B2-BFD6-BDDC7C7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4424D3A-5384-47CB-B213-9D19E2578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BD019713-8C90-4EE7-A349-A57B8500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F2DC350B-8920-47B7-90C9-CEDE9613F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6A0AC4E5-6E02-463E-B1B3-0DD26B03B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C7FC42B1-BA7D-43FC-82AC-355F216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198AD83D-ED20-4AA3-8BBF-C303A7C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350E1190-79A7-44BB-97F4-57602A0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7042C6-6960-4AC3-B3AE-7258B4A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D129ED5-5194-4416-9E94-F98390B5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A78564F6-E03D-454E-9AE9-01FF84A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132123D-095B-4486-9D21-A567CFA9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3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B27DA116-2C79-45D1-B3F1-F56B25E9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6599404A-3343-48F2-AD3D-6ABC1123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49F142-FE13-4549-AEB3-2F06A062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047F195-53B9-48AB-943C-84B3F788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7B741D7-6853-4F7C-930C-135816D6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1B725EF-99D4-44BA-9465-E829FA3B7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98E6160-0952-4AE2-913E-F8232F2B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B5C9AC0-5366-42C4-8BB9-1C8360B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2B8B5BB1-5D14-4939-9A06-0764977B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0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C0518C-91FB-4DCB-8E98-552FE289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703F00A5-DEB0-418F-AB3F-983183FF0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290E094-80F1-4FC2-8783-733A8DB9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0F44B36-1E90-4E55-9AAC-46A0985F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91BA349-E599-4C1B-AC3E-A38A074D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B47919F1-6E7A-4911-AF6B-2501E2C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A7EC4B-1C80-4B70-889D-8FBE843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0FE18196-29C8-4DC4-BF7D-88B77B67A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AB300C5-2AD1-4CFD-A6DD-B89DDEC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648D731-E5C4-4E67-99AB-84B0257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02B54A7-ABCB-4C3F-996F-AD11C016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0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B1BEAF15-7658-41EA-88C7-5B82886E2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4C19DCF-B40B-453D-9B82-AF0B0E65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7121CCB-320D-4153-8BF6-27A6D59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AA3CB01-7FA7-4574-9FFC-9CA300F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E78DDC5-4FE1-4C1D-B3D7-B15C19DA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3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3CF4F349-4F35-44F2-82F3-381F16B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B2E560E-50BD-479C-AF89-F8053F17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7555E14-8D41-46D7-BBFA-FBB6E141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39F706F-2BCD-4D33-989F-92F613F1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A71B7D2-AE3A-40D0-8101-C1DF0991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3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 de texto 2">
            <a:extLst>
              <a:ext uri="{FF2B5EF4-FFF2-40B4-BE49-F238E27FC236}">
                <a16:creationId xmlns:a16="http://schemas.microsoft.com/office/drawing/2014/main" xmlns="" id="{02E966BD-4784-4ED7-A028-7D680FFD2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913859"/>
            <a:ext cx="1524000" cy="4635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400" b="1" kern="100" dirty="0" smtClean="0">
                <a:solidFill>
                  <a:srgbClr val="767171"/>
                </a:solidFill>
                <a:latin typeface="Myriad Pro Cond"/>
                <a:ea typeface="Calibri"/>
                <a:cs typeface="Times New Roman"/>
                <a:sym typeface="Times New Roman"/>
              </a:rPr>
              <a:t>2026</a:t>
            </a:r>
            <a:endParaRPr lang="en-US" altLang="zh-CN" sz="2400" b="1" kern="100" dirty="0">
              <a:solidFill>
                <a:srgbClr val="767171"/>
              </a:solidFill>
              <a:latin typeface="Myriad Pro Cond"/>
              <a:ea typeface="Calibri"/>
              <a:cs typeface="Times New Roman"/>
              <a:sym typeface="Times New Roman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" name="Rectángulo 1"/>
          <p:cNvSpPr/>
          <p:nvPr/>
        </p:nvSpPr>
        <p:spPr>
          <a:xfrm>
            <a:off x="895000" y="2268093"/>
            <a:ext cx="10402000" cy="10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s-ES" sz="2800" b="1" dirty="0">
                <a:solidFill>
                  <a:prstClr val="black"/>
                </a:solidFill>
                <a:latin typeface="Arial Narrow" pitchFamily="34" charset="0"/>
              </a:rPr>
              <a:t>Título: FitGym. Control de socios con una lista simplemente enlazada</a:t>
            </a:r>
            <a:endParaRPr lang="es-ES" sz="32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895000" y="3573724"/>
            <a:ext cx="10402000" cy="12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7" rIns="91434" bIns="45717">
            <a:spAutoFit/>
          </a:bodyPr>
          <a:lstStyle/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Estructuras de Datos · Curso 2026-2027 · Equipo 3</a:t>
            </a:r>
          </a:p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Autores: Ariela Ivón Corrales Rodríguez, Mélany Fernández Díaz, Miriam Elena Pérez Hdez,</a:t>
            </a:r>
          </a:p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Julio César León Gato, Ronal Hernández Castillo</a:t>
            </a:r>
          </a:p>
        </p:txBody>
      </p:sp>
    </p:spTree>
    <p:extLst>
      <p:ext uri="{BB962C8B-B14F-4D97-AF65-F5344CB8AC3E}">
        <p14:creationId xmlns:p14="http://schemas.microsoft.com/office/powerpoint/2010/main" val="160361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 problemática</a:t>
            </a:r>
            <a:endParaRPr lang="en-US" sz="3400" dirty="0"/>
          </a:p>
        </p:txBody>
      </p:sp>
      <p:sp>
        <p:nvSpPr>
          <p:cNvPr id="3" name="Enunciado"/>
          <p:cNvSpPr txBox="1"/>
          <p:nvPr/>
        </p:nvSpPr>
        <p:spPr>
          <a:xfrm>
            <a:off x="548640" y="1463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El centro deportivo FitGym necesita gestionar el registro de sus socios.</a:t>
            </a:r>
            <a:endParaRPr lang="en-US" sz="2200" dirty="0"/>
          </a:p>
        </p:txBody>
      </p:sp>
      <p:sp>
        <p:nvSpPr>
          <p:cNvPr id="4" name="Etiqueta funciones"/>
          <p:cNvSpPr txBox="1"/>
          <p:nvPr/>
        </p:nvSpPr>
        <p:spPr>
          <a:xfrm>
            <a:off x="54864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DEBE HACER EL SISTEMA</a:t>
            </a:r>
            <a:endParaRPr lang="en-US" sz="1200" dirty="0"/>
          </a:p>
        </p:txBody>
      </p:sp>
      <p:sp>
        <p:nvSpPr>
          <p:cNvPr id="5" name="Letra a"/>
          <p:cNvSpPr txBox="1"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Funcion a"/>
          <p:cNvSpPr txBox="1"/>
          <p:nvPr/>
        </p:nvSpPr>
        <p:spPr>
          <a:xfrm>
            <a:off x="1143000" y="3108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Avisar qué membresías están por vencer</a:t>
            </a:r>
            <a:endParaRPr lang="en-US" sz="1600" dirty="0"/>
          </a:p>
        </p:txBody>
      </p:sp>
      <p:sp>
        <p:nvSpPr>
          <p:cNvPr id="7" name="Letra b"/>
          <p:cNvSpPr txBox="1"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Funcion b"/>
          <p:cNvSpPr txBox="1"/>
          <p:nvPr/>
        </p:nvSpPr>
        <p:spPr>
          <a:xfrm>
            <a:off x="1143000" y="3657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Mostrar los socios de mayor a menor días restantes</a:t>
            </a:r>
            <a:endParaRPr lang="en-US" sz="1600" dirty="0"/>
          </a:p>
        </p:txBody>
      </p:sp>
      <p:sp>
        <p:nvSpPr>
          <p:cNvPr id="9" name="Letra c"/>
          <p:cNvSpPr txBox="1"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Funcion c"/>
          <p:cNvSpPr txBox="1"/>
          <p:nvPr/>
        </p:nvSpPr>
        <p:spPr>
          <a:xfrm>
            <a:off x="1143000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Contar los socios por tipo de membresía</a:t>
            </a:r>
            <a:endParaRPr lang="en-US" sz="1600" dirty="0"/>
          </a:p>
        </p:txBody>
      </p:sp>
      <p:sp>
        <p:nvSpPr>
          <p:cNvPr id="11" name="Letra d"/>
          <p:cNvSpPr txBox="1"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Funcion d"/>
          <p:cNvSpPr txBox="1"/>
          <p:nvPr/>
        </p:nvSpPr>
        <p:spPr>
          <a:xfrm>
            <a:off x="1143000" y="4754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Renovar la membresía de un socio</a:t>
            </a:r>
            <a:endParaRPr lang="en-US" sz="1600" dirty="0"/>
          </a:p>
        </p:txBody>
      </p:sp>
      <p:sp>
        <p:nvSpPr>
          <p:cNvPr id="13" name="Letra e"/>
          <p:cNvSpPr txBox="1"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Funcion e"/>
          <p:cNvSpPr txBox="1"/>
          <p:nvPr/>
        </p:nvSpPr>
        <p:spPr>
          <a:xfrm>
            <a:off x="1143000" y="5303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Eliminar a los socios sin días</a:t>
            </a:r>
            <a:endParaRPr lang="en-US" sz="1600" dirty="0"/>
          </a:p>
        </p:txBody>
      </p:sp>
      <p:sp>
        <p:nvSpPr>
          <p:cNvPr id="15" name="Tarjeta socio"/>
          <p:cNvSpPr/>
          <p:nvPr/>
        </p:nvSpPr>
        <p:spPr>
          <a:xfrm>
            <a:off x="6400800" y="1463040"/>
            <a:ext cx="521208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itulo tarjeta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 cada socio se conoce</a:t>
            </a:r>
            <a:endParaRPr lang="en-US" sz="2000" dirty="0"/>
          </a:p>
        </p:txBody>
      </p:sp>
      <p:sp>
        <p:nvSpPr>
          <p:cNvPr id="17" name="Circulo icono 1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mage 0" descr="idSoc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542032"/>
            <a:ext cx="310896" cy="310896"/>
          </a:xfrm>
          <a:prstGeom prst="rect">
            <a:avLst/>
          </a:prstGeom>
        </p:spPr>
      </p:pic>
      <p:sp>
        <p:nvSpPr>
          <p:cNvPr id="19" name="Atributo 1"/>
          <p:cNvSpPr txBox="1"/>
          <p:nvPr/>
        </p:nvSpPr>
        <p:spPr>
          <a:xfrm>
            <a:off x="758952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idSocio</a:t>
            </a:r>
            <a:endParaRPr lang="en-US" sz="1800" dirty="0"/>
          </a:p>
        </p:txBody>
      </p:sp>
      <p:sp>
        <p:nvSpPr>
          <p:cNvPr id="20" name="Detalle atributo 1"/>
          <p:cNvSpPr txBox="1"/>
          <p:nvPr/>
        </p:nvSpPr>
        <p:spPr>
          <a:xfrm>
            <a:off x="7589520" y="2706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Identificador único, por ejemplo S01</a:t>
            </a:r>
            <a:endParaRPr lang="en-US" sz="1400" dirty="0"/>
          </a:p>
        </p:txBody>
      </p:sp>
      <p:sp>
        <p:nvSpPr>
          <p:cNvPr id="21" name="Circulo icono 2"/>
          <p:cNvSpPr/>
          <p:nvPr/>
        </p:nvSpPr>
        <p:spPr>
          <a:xfrm>
            <a:off x="6766560" y="32461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mage 1" descr="nomb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3410712"/>
            <a:ext cx="310896" cy="310896"/>
          </a:xfrm>
          <a:prstGeom prst="rect">
            <a:avLst/>
          </a:prstGeom>
        </p:spPr>
      </p:pic>
      <p:sp>
        <p:nvSpPr>
          <p:cNvPr id="23" name="Atributo 2"/>
          <p:cNvSpPr txBox="1"/>
          <p:nvPr/>
        </p:nvSpPr>
        <p:spPr>
          <a:xfrm>
            <a:off x="758952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nombre</a:t>
            </a:r>
            <a:endParaRPr lang="en-US" sz="1800" dirty="0"/>
          </a:p>
        </p:txBody>
      </p:sp>
      <p:sp>
        <p:nvSpPr>
          <p:cNvPr id="24" name="Detalle atributo 2"/>
          <p:cNvSpPr txBox="1"/>
          <p:nvPr/>
        </p:nvSpPr>
        <p:spPr>
          <a:xfrm>
            <a:off x="7589520" y="3575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Nombre del socio</a:t>
            </a:r>
            <a:endParaRPr lang="en-US" sz="1400" dirty="0"/>
          </a:p>
        </p:txBody>
      </p:sp>
      <p:sp>
        <p:nvSpPr>
          <p:cNvPr id="25" name="Circulo icono 3"/>
          <p:cNvSpPr/>
          <p:nvPr/>
        </p:nvSpPr>
        <p:spPr>
          <a:xfrm>
            <a:off x="6766560" y="41148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Image 2" descr="tipoMembresí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4279392"/>
            <a:ext cx="310896" cy="310896"/>
          </a:xfrm>
          <a:prstGeom prst="rect">
            <a:avLst/>
          </a:prstGeom>
        </p:spPr>
      </p:pic>
      <p:sp>
        <p:nvSpPr>
          <p:cNvPr id="27" name="Atributo 3"/>
          <p:cNvSpPr txBox="1"/>
          <p:nvPr/>
        </p:nvSpPr>
        <p:spPr>
          <a:xfrm>
            <a:off x="7589520" y="4096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tipoMembresía</a:t>
            </a:r>
            <a:endParaRPr lang="en-US" sz="1800" dirty="0"/>
          </a:p>
        </p:txBody>
      </p:sp>
      <p:sp>
        <p:nvSpPr>
          <p:cNvPr id="28" name="Detalle atributo 3"/>
          <p:cNvSpPr txBox="1"/>
          <p:nvPr/>
        </p:nvSpPr>
        <p:spPr>
          <a:xfrm>
            <a:off x="7589520" y="44439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Básica, Premium o VIP</a:t>
            </a:r>
            <a:endParaRPr lang="en-US" sz="1400" dirty="0"/>
          </a:p>
        </p:txBody>
      </p:sp>
      <p:sp>
        <p:nvSpPr>
          <p:cNvPr id="29" name="Circulo icono 4"/>
          <p:cNvSpPr/>
          <p:nvPr/>
        </p:nvSpPr>
        <p:spPr>
          <a:xfrm>
            <a:off x="6766560" y="49834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mage 3" descr="díasRestan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5148072"/>
            <a:ext cx="310896" cy="310896"/>
          </a:xfrm>
          <a:prstGeom prst="rect">
            <a:avLst/>
          </a:prstGeom>
        </p:spPr>
      </p:pic>
      <p:sp>
        <p:nvSpPr>
          <p:cNvPr id="31" name="Atributo 4"/>
          <p:cNvSpPr txBox="1"/>
          <p:nvPr/>
        </p:nvSpPr>
        <p:spPr>
          <a:xfrm>
            <a:off x="7589520" y="4965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díasRestantes</a:t>
            </a:r>
            <a:endParaRPr lang="en-US" sz="1800" dirty="0"/>
          </a:p>
        </p:txBody>
      </p:sp>
      <p:sp>
        <p:nvSpPr>
          <p:cNvPr id="32" name="Detalle atributo 4"/>
          <p:cNvSpPr txBox="1"/>
          <p:nvPr/>
        </p:nvSpPr>
        <p:spPr>
          <a:xfrm>
            <a:off x="7589520" y="5312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Días que le quedan a la membresía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 estructura: lista simplemente enlazada</a:t>
            </a:r>
            <a:endParaRPr lang="en-US" sz="3400" dirty="0"/>
          </a:p>
        </p:txBody>
      </p:sp>
      <p:sp>
        <p:nvSpPr>
          <p:cNvPr id="3" name="Etiqueta head"/>
          <p:cNvSpPr txBox="1"/>
          <p:nvPr/>
        </p:nvSpPr>
        <p:spPr>
          <a:xfrm>
            <a:off x="5486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head</a:t>
            </a:r>
            <a:endParaRPr lang="en-US" sz="1800" dirty="0"/>
          </a:p>
        </p:txBody>
      </p:sp>
      <p:sp>
        <p:nvSpPr>
          <p:cNvPr id="4" name="Flecha head"/>
          <p:cNvSpPr/>
          <p:nvPr/>
        </p:nvSpPr>
        <p:spPr>
          <a:xfrm>
            <a:off x="1371600" y="2377440"/>
            <a:ext cx="3200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" name="Nodo 1 dato"/>
          <p:cNvSpPr txBox="1"/>
          <p:nvPr/>
        </p:nvSpPr>
        <p:spPr>
          <a:xfrm>
            <a:off x="1691640" y="1920240"/>
            <a:ext cx="96012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S01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Carlos</a:t>
            </a:r>
            <a:endParaRPr lang="en-US" sz="1400" dirty="0"/>
          </a:p>
        </p:txBody>
      </p:sp>
      <p:sp>
        <p:nvSpPr>
          <p:cNvPr id="6" name="Nodo 1 next"/>
          <p:cNvSpPr/>
          <p:nvPr/>
        </p:nvSpPr>
        <p:spPr>
          <a:xfrm>
            <a:off x="2651760" y="1920240"/>
            <a:ext cx="45720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Flecha 1"/>
          <p:cNvSpPr/>
          <p:nvPr/>
        </p:nvSpPr>
        <p:spPr>
          <a:xfrm>
            <a:off x="2880360" y="237744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Nodo 2 dato"/>
          <p:cNvSpPr txBox="1"/>
          <p:nvPr/>
        </p:nvSpPr>
        <p:spPr>
          <a:xfrm>
            <a:off x="3566160" y="1920240"/>
            <a:ext cx="96012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S02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Ana</a:t>
            </a:r>
            <a:endParaRPr lang="en-US" sz="1400" dirty="0"/>
          </a:p>
        </p:txBody>
      </p:sp>
      <p:sp>
        <p:nvSpPr>
          <p:cNvPr id="10" name="Nodo 2 next"/>
          <p:cNvSpPr/>
          <p:nvPr/>
        </p:nvSpPr>
        <p:spPr>
          <a:xfrm>
            <a:off x="4526280" y="1920240"/>
            <a:ext cx="45720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Flecha 2"/>
          <p:cNvSpPr/>
          <p:nvPr/>
        </p:nvSpPr>
        <p:spPr>
          <a:xfrm>
            <a:off x="4754880" y="237744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Nodo 3 dato"/>
          <p:cNvSpPr txBox="1"/>
          <p:nvPr/>
        </p:nvSpPr>
        <p:spPr>
          <a:xfrm>
            <a:off x="5440680" y="1920240"/>
            <a:ext cx="96012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S03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Pedro</a:t>
            </a:r>
            <a:endParaRPr lang="en-US" sz="1400" dirty="0"/>
          </a:p>
        </p:txBody>
      </p:sp>
      <p:sp>
        <p:nvSpPr>
          <p:cNvPr id="14" name="Nodo 3 next"/>
          <p:cNvSpPr/>
          <p:nvPr/>
        </p:nvSpPr>
        <p:spPr>
          <a:xfrm>
            <a:off x="6400800" y="1920240"/>
            <a:ext cx="45720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Flecha 3"/>
          <p:cNvSpPr/>
          <p:nvPr/>
        </p:nvSpPr>
        <p:spPr>
          <a:xfrm>
            <a:off x="6629400" y="237744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Nodo 4 dato"/>
          <p:cNvSpPr txBox="1"/>
          <p:nvPr/>
        </p:nvSpPr>
        <p:spPr>
          <a:xfrm>
            <a:off x="7315200" y="1920240"/>
            <a:ext cx="96012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S04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María</a:t>
            </a:r>
            <a:endParaRPr lang="en-US" sz="1400" dirty="0"/>
          </a:p>
        </p:txBody>
      </p:sp>
      <p:sp>
        <p:nvSpPr>
          <p:cNvPr id="18" name="Nodo 4 next"/>
          <p:cNvSpPr/>
          <p:nvPr/>
        </p:nvSpPr>
        <p:spPr>
          <a:xfrm>
            <a:off x="8275320" y="1920240"/>
            <a:ext cx="45720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Flecha 4"/>
          <p:cNvSpPr/>
          <p:nvPr/>
        </p:nvSpPr>
        <p:spPr>
          <a:xfrm>
            <a:off x="8503920" y="237744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Nodo 5 dato"/>
          <p:cNvSpPr txBox="1"/>
          <p:nvPr/>
        </p:nvSpPr>
        <p:spPr>
          <a:xfrm>
            <a:off x="9189720" y="1920240"/>
            <a:ext cx="96012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S05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Lucía</a:t>
            </a:r>
            <a:endParaRPr lang="en-US" sz="1400" dirty="0"/>
          </a:p>
        </p:txBody>
      </p:sp>
      <p:sp>
        <p:nvSpPr>
          <p:cNvPr id="22" name="Nodo 5 next"/>
          <p:cNvSpPr/>
          <p:nvPr/>
        </p:nvSpPr>
        <p:spPr>
          <a:xfrm>
            <a:off x="10149840" y="1920240"/>
            <a:ext cx="457200" cy="9144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Flecha null"/>
          <p:cNvSpPr/>
          <p:nvPr/>
        </p:nvSpPr>
        <p:spPr>
          <a:xfrm>
            <a:off x="10378440" y="2377440"/>
            <a:ext cx="5943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Etiqueta null"/>
          <p:cNvSpPr txBox="1"/>
          <p:nvPr/>
        </p:nvSpPr>
        <p:spPr>
          <a:xfrm>
            <a:off x="109728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null</a:t>
            </a:r>
            <a:endParaRPr lang="en-US" sz="1800" dirty="0"/>
          </a:p>
        </p:txBody>
      </p:sp>
      <p:sp>
        <p:nvSpPr>
          <p:cNvPr id="26" name="Pie diagrama"/>
          <p:cNvSpPr txBox="1"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Lista con los 5 socios de prueba: el último nodo apunta a null</a:t>
            </a:r>
            <a:endParaRPr lang="en-US" sz="1200" dirty="0"/>
          </a:p>
        </p:txBody>
      </p:sp>
      <p:sp>
        <p:nvSpPr>
          <p:cNvPr id="27" name="Tarjeta 1"/>
          <p:cNvSpPr/>
          <p:nvPr/>
        </p:nvSpPr>
        <p:spPr>
          <a:xfrm>
            <a:off x="54864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itulo tarjeta 1"/>
          <p:cNvSpPr txBox="1"/>
          <p:nvPr/>
        </p:nvSpPr>
        <p:spPr>
          <a:xfrm>
            <a:off x="82296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Nodo&lt;E&gt;</a:t>
            </a:r>
            <a:endParaRPr lang="en-US" sz="2000" dirty="0"/>
          </a:p>
        </p:txBody>
      </p:sp>
      <p:sp>
        <p:nvSpPr>
          <p:cNvPr id="29" name="Texto tarjeta 1"/>
          <p:cNvSpPr txBox="1"/>
          <p:nvPr/>
        </p:nvSpPr>
        <p:spPr>
          <a:xfrm>
            <a:off x="82296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Guarda un dato (data) y la referencia al siguiente nodo (next).</a:t>
            </a:r>
            <a:endParaRPr lang="en-US" sz="1600" dirty="0"/>
          </a:p>
        </p:txBody>
      </p:sp>
      <p:sp>
        <p:nvSpPr>
          <p:cNvPr id="30" name="Tarjeta 2"/>
          <p:cNvSpPr/>
          <p:nvPr/>
        </p:nvSpPr>
        <p:spPr>
          <a:xfrm>
            <a:off x="429768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itulo tarjeta 2"/>
          <p:cNvSpPr txBox="1"/>
          <p:nvPr/>
        </p:nvSpPr>
        <p:spPr>
          <a:xfrm>
            <a:off x="457200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head y size</a:t>
            </a:r>
            <a:endParaRPr lang="en-US" sz="2000" dirty="0"/>
          </a:p>
        </p:txBody>
      </p:sp>
      <p:sp>
        <p:nvSpPr>
          <p:cNvPr id="32" name="Texto tarjeta 2"/>
          <p:cNvSpPr txBox="1"/>
          <p:nvPr/>
        </p:nvSpPr>
        <p:spPr>
          <a:xfrm>
            <a:off x="457200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head apunta al primer nodo. size lleva la cuenta, así que size() no recorre nada.</a:t>
            </a:r>
            <a:endParaRPr lang="en-US" sz="1600" dirty="0"/>
          </a:p>
        </p:txBody>
      </p:sp>
      <p:sp>
        <p:nvSpPr>
          <p:cNvPr id="33" name="Tarjeta 3"/>
          <p:cNvSpPr/>
          <p:nvPr/>
        </p:nvSpPr>
        <p:spPr>
          <a:xfrm>
            <a:off x="804672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Titulo tarjeta 3"/>
          <p:cNvSpPr txBox="1"/>
          <p:nvPr/>
        </p:nvSpPr>
        <p:spPr>
          <a:xfrm>
            <a:off x="83210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Recorrido</a:t>
            </a:r>
            <a:endParaRPr lang="en-US" sz="2000" dirty="0"/>
          </a:p>
        </p:txBody>
      </p:sp>
      <p:sp>
        <p:nvSpPr>
          <p:cNvPr id="35" name="Texto tarjeta 3"/>
          <p:cNvSpPr txBox="1"/>
          <p:nvPr/>
        </p:nvSpPr>
        <p:spPr>
          <a:xfrm>
            <a:off x="832104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Solo se avanza con getNext(). Llegar al final cuesta O(n), por eso add(e) recorre toda la lista.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Diseño de clases</a:t>
            </a:r>
            <a:endParaRPr lang="en-US" sz="3400" dirty="0"/>
          </a:p>
        </p:txBody>
      </p:sp>
      <p:sp>
        <p:nvSpPr>
          <p:cNvPr id="3" name="List caja"/>
          <p:cNvSpPr/>
          <p:nvPr/>
        </p:nvSpPr>
        <p:spPr>
          <a:xfrm>
            <a:off x="548640" y="1176237"/>
            <a:ext cx="3931920" cy="1123297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List titulo"/>
          <p:cNvSpPr txBox="1"/>
          <p:nvPr/>
        </p:nvSpPr>
        <p:spPr>
          <a:xfrm>
            <a:off x="548640" y="1176237"/>
            <a:ext cx="3931920" cy="388833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List&lt;E&gt;  «interface»</a:t>
            </a:r>
            <a:endParaRPr lang="en-US" sz="1400" dirty="0"/>
          </a:p>
        </p:txBody>
      </p:sp>
      <p:sp>
        <p:nvSpPr>
          <p:cNvPr id="5" name="List miembros"/>
          <p:cNvSpPr txBox="1"/>
          <p:nvPr/>
        </p:nvSpPr>
        <p:spPr>
          <a:xfrm>
            <a:off x="685800" y="1625556"/>
            <a:ext cx="3657600" cy="62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add(e) · add(e, index)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remove(index) · get(index)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size() · isEmpty() · clear()</a:t>
            </a:r>
            <a:endParaRPr lang="en-US" sz="1200" dirty="0"/>
          </a:p>
        </p:txBody>
      </p:sp>
      <p:sp>
        <p:nvSpPr>
          <p:cNvPr id="6" name="LinkedList caja"/>
          <p:cNvSpPr/>
          <p:nvPr/>
        </p:nvSpPr>
        <p:spPr>
          <a:xfrm>
            <a:off x="548640" y="2601960"/>
            <a:ext cx="3931920" cy="1123297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LinkedList titulo"/>
          <p:cNvSpPr txBox="1"/>
          <p:nvPr/>
        </p:nvSpPr>
        <p:spPr>
          <a:xfrm>
            <a:off x="548640" y="2601960"/>
            <a:ext cx="3931920" cy="38883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LinkedList&lt;E&gt;</a:t>
            </a:r>
            <a:endParaRPr lang="en-US" sz="1400" dirty="0"/>
          </a:p>
        </p:txBody>
      </p:sp>
      <p:sp>
        <p:nvSpPr>
          <p:cNvPr id="8" name="LinkedList miembros"/>
          <p:cNvSpPr txBox="1"/>
          <p:nvPr/>
        </p:nvSpPr>
        <p:spPr>
          <a:xfrm>
            <a:off x="685800" y="3051279"/>
            <a:ext cx="3657600" cy="62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head: Nodo&lt;E&gt;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size: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implementa List&lt;E&gt;</a:t>
            </a:r>
            <a:endParaRPr lang="en-US" sz="1200" dirty="0"/>
          </a:p>
        </p:txBody>
      </p:sp>
      <p:sp>
        <p:nvSpPr>
          <p:cNvPr id="9" name="ListaSocio caja"/>
          <p:cNvSpPr/>
          <p:nvPr/>
        </p:nvSpPr>
        <p:spPr>
          <a:xfrm>
            <a:off x="548640" y="4027683"/>
            <a:ext cx="3931920" cy="168494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istaSocio titulo"/>
          <p:cNvSpPr txBox="1"/>
          <p:nvPr/>
        </p:nvSpPr>
        <p:spPr>
          <a:xfrm>
            <a:off x="548640" y="4027683"/>
            <a:ext cx="3931920" cy="38883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ListaSocio</a:t>
            </a:r>
            <a:endParaRPr lang="en-US" sz="1400" dirty="0"/>
          </a:p>
        </p:txBody>
      </p:sp>
      <p:sp>
        <p:nvSpPr>
          <p:cNvPr id="11" name="ListaSocio miembros"/>
          <p:cNvSpPr txBox="1"/>
          <p:nvPr/>
        </p:nvSpPr>
        <p:spPr>
          <a:xfrm>
            <a:off x="685800" y="4477002"/>
            <a:ext cx="3657600" cy="118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extiende LinkedList&lt;Socio&gt;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Los 5 métodos del examen: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MembresiasPorVencer, MostrarOrdenadosPorDias,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CantidadSociosPorMembresia, RenovarMembresia,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EliminarSociosSinDias</a:t>
            </a:r>
            <a:endParaRPr lang="en-US" sz="1200" dirty="0"/>
          </a:p>
        </p:txBody>
      </p:sp>
      <p:sp>
        <p:nvSpPr>
          <p:cNvPr id="12" name="Linea implements"/>
          <p:cNvSpPr/>
          <p:nvPr/>
        </p:nvSpPr>
        <p:spPr>
          <a:xfrm>
            <a:off x="2514600" y="2299534"/>
            <a:ext cx="0" cy="30242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Etiqueta implements"/>
          <p:cNvSpPr txBox="1"/>
          <p:nvPr/>
        </p:nvSpPr>
        <p:spPr>
          <a:xfrm>
            <a:off x="2651760" y="2316815"/>
            <a:ext cx="1280160" cy="259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implements</a:t>
            </a:r>
            <a:endParaRPr lang="en-US" sz="1100" dirty="0"/>
          </a:p>
        </p:txBody>
      </p:sp>
      <p:sp>
        <p:nvSpPr>
          <p:cNvPr id="14" name="Linea extends"/>
          <p:cNvSpPr/>
          <p:nvPr/>
        </p:nvSpPr>
        <p:spPr>
          <a:xfrm>
            <a:off x="2514600" y="3725257"/>
            <a:ext cx="0" cy="302426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Etiqueta extends"/>
          <p:cNvSpPr txBox="1"/>
          <p:nvPr/>
        </p:nvSpPr>
        <p:spPr>
          <a:xfrm>
            <a:off x="2651760" y="3742539"/>
            <a:ext cx="1280160" cy="25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extends</a:t>
            </a:r>
            <a:endParaRPr lang="en-US" sz="1100" dirty="0"/>
          </a:p>
        </p:txBody>
      </p:sp>
      <p:sp>
        <p:nvSpPr>
          <p:cNvPr id="16" name="Nodo caja"/>
          <p:cNvSpPr/>
          <p:nvPr/>
        </p:nvSpPr>
        <p:spPr>
          <a:xfrm>
            <a:off x="5394960" y="2601960"/>
            <a:ext cx="2926080" cy="1123297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Nodo titulo"/>
          <p:cNvSpPr txBox="1"/>
          <p:nvPr/>
        </p:nvSpPr>
        <p:spPr>
          <a:xfrm>
            <a:off x="5394960" y="2601960"/>
            <a:ext cx="2926080" cy="38883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Nodo&lt;E&gt;</a:t>
            </a:r>
            <a:endParaRPr lang="en-US" sz="1400" dirty="0"/>
          </a:p>
        </p:txBody>
      </p:sp>
      <p:sp>
        <p:nvSpPr>
          <p:cNvPr id="18" name="Nodo miembros"/>
          <p:cNvSpPr txBox="1"/>
          <p:nvPr/>
        </p:nvSpPr>
        <p:spPr>
          <a:xfrm>
            <a:off x="5532120" y="3051279"/>
            <a:ext cx="2651760" cy="62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data: 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next: Nodo&lt;E&gt;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getData/setData · getNext/setNext</a:t>
            </a:r>
            <a:endParaRPr lang="en-US" sz="1200" dirty="0"/>
          </a:p>
        </p:txBody>
      </p:sp>
      <p:sp>
        <p:nvSpPr>
          <p:cNvPr id="19" name="Socio caja"/>
          <p:cNvSpPr/>
          <p:nvPr/>
        </p:nvSpPr>
        <p:spPr>
          <a:xfrm>
            <a:off x="5394960" y="4027683"/>
            <a:ext cx="2926080" cy="168494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ocio titulo"/>
          <p:cNvSpPr txBox="1"/>
          <p:nvPr/>
        </p:nvSpPr>
        <p:spPr>
          <a:xfrm>
            <a:off x="5394960" y="4027683"/>
            <a:ext cx="2926080" cy="388834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Socio</a:t>
            </a:r>
            <a:endParaRPr lang="en-US" sz="1400" dirty="0"/>
          </a:p>
        </p:txBody>
      </p:sp>
      <p:sp>
        <p:nvSpPr>
          <p:cNvPr id="21" name="Socio miembros"/>
          <p:cNvSpPr txBox="1"/>
          <p:nvPr/>
        </p:nvSpPr>
        <p:spPr>
          <a:xfrm>
            <a:off x="5532120" y="4477002"/>
            <a:ext cx="2651760" cy="1183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idSocio: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nombre: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tipoMembresia: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diasRestantes: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getters · setDiasRestantes()</a:t>
            </a:r>
            <a:endParaRPr lang="en-US" sz="1200" dirty="0"/>
          </a:p>
        </p:txBody>
      </p:sp>
      <p:sp>
        <p:nvSpPr>
          <p:cNvPr id="22" name="Flecha Nodo"/>
          <p:cNvSpPr/>
          <p:nvPr/>
        </p:nvSpPr>
        <p:spPr>
          <a:xfrm>
            <a:off x="4480560" y="3163609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Etiqueta usa"/>
          <p:cNvSpPr txBox="1"/>
          <p:nvPr/>
        </p:nvSpPr>
        <p:spPr>
          <a:xfrm>
            <a:off x="4572000" y="2904386"/>
            <a:ext cx="731520" cy="216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usa</a:t>
            </a:r>
            <a:endParaRPr lang="en-US" sz="1100" dirty="0"/>
          </a:p>
        </p:txBody>
      </p:sp>
      <p:sp>
        <p:nvSpPr>
          <p:cNvPr id="24" name="Flecha Socio"/>
          <p:cNvSpPr/>
          <p:nvPr/>
        </p:nvSpPr>
        <p:spPr>
          <a:xfrm>
            <a:off x="4480560" y="4865836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Etiqueta guarda"/>
          <p:cNvSpPr txBox="1"/>
          <p:nvPr/>
        </p:nvSpPr>
        <p:spPr>
          <a:xfrm>
            <a:off x="4572000" y="4606614"/>
            <a:ext cx="731520" cy="216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guarda</a:t>
            </a:r>
            <a:endParaRPr lang="en-US" sz="1100" dirty="0"/>
          </a:p>
        </p:txBody>
      </p:sp>
      <p:sp>
        <p:nvSpPr>
          <p:cNvPr id="26" name="Main caja"/>
          <p:cNvSpPr/>
          <p:nvPr/>
        </p:nvSpPr>
        <p:spPr>
          <a:xfrm>
            <a:off x="8869680" y="1176237"/>
            <a:ext cx="2743200" cy="864075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Main titulo"/>
          <p:cNvSpPr txBox="1"/>
          <p:nvPr/>
        </p:nvSpPr>
        <p:spPr>
          <a:xfrm>
            <a:off x="8869680" y="1176237"/>
            <a:ext cx="2743200" cy="388833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Main</a:t>
            </a:r>
            <a:endParaRPr lang="en-US" sz="1400" dirty="0"/>
          </a:p>
        </p:txBody>
      </p:sp>
      <p:sp>
        <p:nvSpPr>
          <p:cNvPr id="28" name="Main miembros"/>
          <p:cNvSpPr txBox="1"/>
          <p:nvPr/>
        </p:nvSpPr>
        <p:spPr>
          <a:xfrm>
            <a:off x="9006840" y="1625556"/>
            <a:ext cx="2468880" cy="36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main(): crea Sistema y llama a iniciar()</a:t>
            </a:r>
            <a:endParaRPr lang="en-US" sz="1200" dirty="0"/>
          </a:p>
        </p:txBody>
      </p:sp>
      <p:sp>
        <p:nvSpPr>
          <p:cNvPr id="29" name="Sistema caja"/>
          <p:cNvSpPr/>
          <p:nvPr/>
        </p:nvSpPr>
        <p:spPr>
          <a:xfrm>
            <a:off x="8869680" y="2385941"/>
            <a:ext cx="2743200" cy="172815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Sistema titulo"/>
          <p:cNvSpPr txBox="1"/>
          <p:nvPr/>
        </p:nvSpPr>
        <p:spPr>
          <a:xfrm>
            <a:off x="8869680" y="2385941"/>
            <a:ext cx="2743200" cy="38883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Sistema</a:t>
            </a:r>
            <a:endParaRPr lang="en-US" sz="1400" dirty="0"/>
          </a:p>
        </p:txBody>
      </p:sp>
      <p:sp>
        <p:nvSpPr>
          <p:cNvPr id="31" name="Sistema miembros"/>
          <p:cNvSpPr txBox="1"/>
          <p:nvPr/>
        </p:nvSpPr>
        <p:spPr>
          <a:xfrm>
            <a:off x="9006840" y="2835260"/>
            <a:ext cx="2468880" cy="122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Menú de 8 opciones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Usa una ListaSocio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Incluye los casos de prueba (opción 8)</a:t>
            </a:r>
            <a:endParaRPr lang="en-US" sz="1200" dirty="0"/>
          </a:p>
        </p:txBody>
      </p:sp>
      <p:sp>
        <p:nvSpPr>
          <p:cNvPr id="32" name="Validaciones caja"/>
          <p:cNvSpPr/>
          <p:nvPr/>
        </p:nvSpPr>
        <p:spPr>
          <a:xfrm>
            <a:off x="8869680" y="4459721"/>
            <a:ext cx="2743200" cy="125290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Validaciones titulo"/>
          <p:cNvSpPr txBox="1"/>
          <p:nvPr/>
        </p:nvSpPr>
        <p:spPr>
          <a:xfrm>
            <a:off x="8869680" y="4459721"/>
            <a:ext cx="2743200" cy="38883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Validaciones</a:t>
            </a:r>
            <a:endParaRPr lang="en-US" sz="1400" dirty="0"/>
          </a:p>
        </p:txBody>
      </p:sp>
      <p:sp>
        <p:nvSpPr>
          <p:cNvPr id="34" name="Validaciones miembros"/>
          <p:cNvSpPr txBox="1"/>
          <p:nvPr/>
        </p:nvSpPr>
        <p:spPr>
          <a:xfrm>
            <a:off x="9006840" y="4909040"/>
            <a:ext cx="2468880" cy="751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>Lee con Scanner y valida enteros, nombres e IDs</a:t>
            </a:r>
            <a:endParaRPr lang="en-US" sz="1200" dirty="0"/>
          </a:p>
        </p:txBody>
      </p:sp>
      <p:sp>
        <p:nvSpPr>
          <p:cNvPr id="35" name="Flecha Main"/>
          <p:cNvSpPr/>
          <p:nvPr/>
        </p:nvSpPr>
        <p:spPr>
          <a:xfrm>
            <a:off x="10241280" y="2040312"/>
            <a:ext cx="0" cy="345629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Flecha Sistema"/>
          <p:cNvSpPr/>
          <p:nvPr/>
        </p:nvSpPr>
        <p:spPr>
          <a:xfrm>
            <a:off x="10241280" y="4114091"/>
            <a:ext cx="0" cy="34563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7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a) MembresiasPorVencer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LinkedList&lt;String&gt; MembresiasPorVencer(int diasLimite)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</a:t>
            </a:r>
            <a:r>
              <a:rPr lang="en-US" sz="1200" b="1" dirty="0" smtClean="0">
                <a:solidFill>
                  <a:schemeClr val="accent2"/>
                </a:solidFill>
              </a:rPr>
              <a:t>HACE?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los IDs de los socios a los que les quedan diasLimite días o menos (el límite se incluye).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 que el límite no sea negativo (si lo es, lanza excepción).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la lista desde head con un cursor.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diasRestantes &lt;= límite, agrega el ID al resultado.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ListaSocio.java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LinkedList&lt;String&gt; MembresiasPorVencer(int diasLimite)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(diasLimite &lt;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"El límite de días no puede ser negativo.");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LinkedList&lt;String&gt; result = new LinkedList&lt;&gt;();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Nodo&lt;Socio&gt; actual = head;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(actual != null)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Socio socio = actual.getData();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(socio.getDiasRestantes() &lt;= diasLimite)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result.add(socio.getIdSocio());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actual.getNext();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b) MostrarOrdenadosPorDias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LinkedList&lt;Socio&gt; MostrarOrdenadosPorDias()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Devuelve una copia de la lista ordenada de mayor a menor por días restantes. La original no se modifica.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Copia los socios a una lista nueva.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Ordena la copia con burbuja: intercambia </a:t>
            </a:r>
            <a:r>
              <a:rPr lang="en-US" sz="1400" dirty="0" err="1">
                <a:solidFill>
                  <a:schemeClr val="tx1"/>
                </a:solidFill>
              </a:rPr>
              <a:t>datos</a:t>
            </a:r>
            <a:r>
              <a:rPr lang="en-US" sz="1400" dirty="0">
                <a:solidFill>
                  <a:schemeClr val="tx1"/>
                </a:solidFill>
              </a:rPr>
              <a:t> si actual &lt; siguiente.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Repite hasta que no haya cambios y devuelve la copia.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Costo: O(n²) por la burbuja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ListaSocio.java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LinkedList&lt;Socio&gt; MostrarOrdenadosPorDias()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LinkedList&lt;Socio&gt; copia = new LinkedList&lt;&gt;();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Nodo&lt;Socio&gt; actual = head;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(actual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copia.add(actual.getData());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actual.getNext();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cambio = true;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(cambio)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cambio = false;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Nodo&lt;Socio&gt; cursor = copia.head;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(cursor != null &amp;&amp; cursor.getNext()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Socio socioActual = cursor.getData();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Socio socioSiguiente = cursor.getNext().getData();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(socioActual.getDiasRestantes() &lt; socioSiguiente.getDiasRestantes())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cursor.setData(socioSiguiente);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cursor.getNext().setData(socioActual);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cambio = true;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cursor = cursor.getNext();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copia;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c) CantidadSociosPorMembresia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CantidadSociosPorMembresia()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Cuenta cuántos socios hay de cada tipo (Básica, Premium, VIP) y lo devuelve en un solo String.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Usa tres contadores: basica, premium y vip.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Recorre la lista y compara el tipo con equalsIgnoreCase.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Devuelve los tres conteos en un String.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ListaSocio.java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CantidadSociosPorMembresia()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basica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premium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vip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Nodo&lt;Socio&gt; actual = head;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(actual != null)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Socio s = actual.getData();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(s.getTipoMembresia().equalsIgnoreCase("Básica"))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basica++;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(s.getTipoMembresia().equalsIgnoreCase("Premium"))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premium++;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(s.getTipoMembresia().equalsIgnoreCase("VIP"))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vip++;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actual.getNext();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"Básica: " + basica + ", Premium: " + premium + ", VIP: " + vip;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d) RenovarMembresia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RenovarMembresia(String idSocio, int diasAdicionales)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Busca un socio por su ID y le suma días adicionales. Devuelve true si lo encontró y false si no.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 el ID (null o vacío) y que los días no sean negativos.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Busca el socio por ID recorriendo la lista.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8783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Suma con long (lanza excepción si desborda el entero) y devuelve true; si no lo halla, false.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Costo: O(n) en el peor caso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ListaSocio.java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RenovarMembresia(String idSocio, int diasAdicionales)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(diasAdicionales &lt; 0)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"Los días a renovar no pueden ser negativos.");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(idSocio == null || idSocio.trim().isEmpty())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"El ID del socio no puede ser null ni vacío.");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Nodo&lt;Socio&gt; actual = head;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(actual != null)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Socio socio = actual.getData();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(socio.getIdSocio().equals(idSocio))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long nuevosDias = (long) socio.getDiasRestantes() + diasAdicionales;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(nuevosDias &gt; Integer.MAX_VALUE) {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new IllegalArgumentException(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"La renovación supera el máximo de días permitido.");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socio.setDiasRestantes((int) nuevosDias);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true;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actual.getNext();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false;</a:t>
            </a:r>
            <a:endParaRPr lang="en-US" sz="1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e) EliminarSociosSinDias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EliminarSociosSinDias()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Elimina a todos los socios con 0 días restantes, actualiza size y devuelve cuántos eliminó.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Primero quita los ceros del inicio moviendo head.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Luego, con un cursor, salta los nodos con 0 días.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Cuenta cada eliminado y resta 1 a size.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ListaSocio.java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 EliminarSociosSinDias()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cont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1) ceros al inicio: se mueve head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(head != null &amp;&amp; head.getData().getDiasRestantes() == 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 = head.getNext();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size--;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2) ceros en medio y al final: se salta el nodo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(head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Nodo&lt;Socio&gt; cursor = head;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(cursor.getNext()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(cursor.getNext().getData().getDiasRestantes() == 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cursor.setNext(cursor.getNext().getNext());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cont++;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size--;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 = cursor.getNext();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3400" b="1" dirty="0" smtClean="0">
                <a:solidFill>
                  <a:schemeClr val="tx1"/>
                </a:solidFill>
              </a:rPr>
              <a:t>Conclusiones</a:t>
            </a:r>
            <a:r>
              <a:rPr lang="en-US" sz="3400" b="1" dirty="0" smtClean="0"/>
              <a:t>:</a:t>
            </a:r>
            <a:br>
              <a:rPr lang="en-US" sz="3400" b="1" dirty="0" smtClean="0"/>
            </a:br>
            <a:r>
              <a:rPr lang="en-US" sz="3400" b="1" dirty="0" err="1" smtClean="0">
                <a:solidFill>
                  <a:schemeClr val="tx1"/>
                </a:solidFill>
              </a:rPr>
              <a:t>Pruebas</a:t>
            </a:r>
            <a:r>
              <a:rPr lang="en-US" sz="3400" b="1" dirty="0">
                <a:solidFill>
                  <a:schemeClr val="tx1"/>
                </a:solidFill>
              </a:rPr>
              <a:t>: positivas, negativas y de borde</a:t>
            </a:r>
            <a:endParaRPr lang="en-US" sz="3400" dirty="0"/>
          </a:p>
        </p:txBody>
      </p:sp>
      <p:sp>
        <p:nvSpPr>
          <p:cNvPr id="30" name="Tarjeta Positivas"/>
          <p:cNvSpPr txBox="1"/>
          <p:nvPr/>
        </p:nvSpPr>
        <p:spPr>
          <a:xfrm>
            <a:off x="54864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31" name="Numero Positivas"/>
          <p:cNvSpPr txBox="1"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Titulo Positivas"/>
          <p:cNvSpPr txBox="1"/>
          <p:nvPr/>
        </p:nvSpPr>
        <p:spPr>
          <a:xfrm>
            <a:off x="129844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Positivas</a:t>
            </a:r>
          </a:p>
        </p:txBody>
      </p:sp>
      <p:sp>
        <p:nvSpPr>
          <p:cNvPr id="33" name="Subtitulo Positivas"/>
          <p:cNvSpPr txBox="1"/>
          <p:nvPr/>
        </p:nvSpPr>
        <p:spPr>
          <a:xfrm>
            <a:off x="77724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>Flujos normales</a:t>
            </a:r>
          </a:p>
        </p:txBody>
      </p:sp>
      <p:sp>
        <p:nvSpPr>
          <p:cNvPr id="34" name="Casos Positivas"/>
          <p:cNvSpPr txBox="1"/>
          <p:nvPr/>
        </p:nvSpPr>
        <p:spPr>
          <a:xfrm>
            <a:off x="77724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Límite 5 → S01 y S03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Orden: 60, 30, 15, 5, 2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Básica 2, Premium 2, VIP 1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S01 +10 días → true, queda en 15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Ceros en todas las posiciones → elimina 5</a:t>
            </a:r>
          </a:p>
        </p:txBody>
      </p:sp>
      <p:sp>
        <p:nvSpPr>
          <p:cNvPr id="35" name="Tarjeta Negativas"/>
          <p:cNvSpPr txBox="1"/>
          <p:nvPr/>
        </p:nvSpPr>
        <p:spPr>
          <a:xfrm>
            <a:off x="432816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36" name="Numero Negativas"/>
          <p:cNvSpPr txBox="1"/>
          <p:nvPr/>
        </p:nvSpPr>
        <p:spPr>
          <a:xfrm>
            <a:off x="455676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Titulo Negativas"/>
          <p:cNvSpPr txBox="1"/>
          <p:nvPr/>
        </p:nvSpPr>
        <p:spPr>
          <a:xfrm>
            <a:off x="507796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Negativas</a:t>
            </a:r>
          </a:p>
        </p:txBody>
      </p:sp>
      <p:sp>
        <p:nvSpPr>
          <p:cNvPr id="38" name="Subtitulo Negativas"/>
          <p:cNvSpPr txBox="1"/>
          <p:nvPr/>
        </p:nvSpPr>
        <p:spPr>
          <a:xfrm>
            <a:off x="455676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>Deben lanzar excepción</a:t>
            </a:r>
          </a:p>
        </p:txBody>
      </p:sp>
      <p:sp>
        <p:nvSpPr>
          <p:cNvPr id="39" name="Casos Negativas"/>
          <p:cNvSpPr txBox="1"/>
          <p:nvPr/>
        </p:nvSpPr>
        <p:spPr>
          <a:xfrm>
            <a:off x="455676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Límite -1 y renovar -5 días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ID null o solo espacios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Suma que desborda el entero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Socio null o ID repetido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Socio con ID vacío, membresía "Pro" o días negativos</a:t>
            </a:r>
          </a:p>
        </p:txBody>
      </p:sp>
      <p:sp>
        <p:nvSpPr>
          <p:cNvPr id="40" name="Tarjeta De borde"/>
          <p:cNvSpPr txBox="1"/>
          <p:nvPr/>
        </p:nvSpPr>
        <p:spPr>
          <a:xfrm>
            <a:off x="810768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41" name="Numero De borde"/>
          <p:cNvSpPr txBox="1"/>
          <p:nvPr/>
        </p:nvSpPr>
        <p:spPr>
          <a:xfrm>
            <a:off x="833628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Titulo De borde"/>
          <p:cNvSpPr txBox="1"/>
          <p:nvPr/>
        </p:nvSpPr>
        <p:spPr>
          <a:xfrm>
            <a:off x="885748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De borde</a:t>
            </a:r>
          </a:p>
        </p:txBody>
      </p:sp>
      <p:sp>
        <p:nvSpPr>
          <p:cNvPr id="43" name="Subtitulo De borde"/>
          <p:cNvSpPr txBox="1"/>
          <p:nvPr/>
        </p:nvSpPr>
        <p:spPr>
          <a:xfrm>
            <a:off x="833628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>Casos límite</a:t>
            </a:r>
          </a:p>
        </p:txBody>
      </p:sp>
      <p:sp>
        <p:nvSpPr>
          <p:cNvPr id="44" name="Casos De borde"/>
          <p:cNvSpPr txBox="1"/>
          <p:nvPr/>
        </p:nvSpPr>
        <p:spPr>
          <a:xfrm>
            <a:off x="833628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Lista vacía en cada método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Límite 1 → ningún ID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Empate de 15 días: mantiene el orden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ID inexistente → false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Todos en 0 → 3 y lista vacía; ninguno en 0 → 0</a:t>
            </a:r>
          </a:p>
        </p:txBody>
      </p:sp>
      <p:sp>
        <p:nvSpPr>
          <p:cNvPr id="4" name="Nota pruebas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Todas se ejecutan desde la opción 8 del menú.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FitGym UPR">
      <a:dk1>
        <a:srgbClr val="1B2B22"/>
      </a:dk1>
      <a:lt1>
        <a:srgbClr val="FFFFFF"/>
      </a:lt1>
      <a:dk2>
        <a:srgbClr val="14532D"/>
      </a:dk2>
      <a:lt2>
        <a:srgbClr val="F1F5F2"/>
      </a:lt2>
      <a:accent1>
        <a:srgbClr val="11622F"/>
      </a:accent1>
      <a:accent2>
        <a:srgbClr val="2F7D4E"/>
      </a:accent2>
      <a:accent3>
        <a:srgbClr val="5EBE7F"/>
      </a:accent3>
      <a:accent4>
        <a:srgbClr val="6B7280"/>
      </a:accent4>
      <a:accent5>
        <a:srgbClr val="4D4D4D"/>
      </a:accent5>
      <a:accent6>
        <a:srgbClr val="A7D8B6"/>
      </a:accent6>
      <a:hlink>
        <a:srgbClr val="11622F"/>
      </a:hlink>
      <a:folHlink>
        <a:srgbClr val="4D4D4D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1529</Words>
  <Application>Microsoft Office PowerPoint</Application>
  <PresentationFormat>Personalizado</PresentationFormat>
  <Paragraphs>296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La problemática</vt:lpstr>
      <vt:lpstr>La estructura: lista simplemente enlazada</vt:lpstr>
      <vt:lpstr>Diseño de clases</vt:lpstr>
      <vt:lpstr>a) MembresiasPorVencer</vt:lpstr>
      <vt:lpstr>b) MostrarOrdenadosPorDias</vt:lpstr>
      <vt:lpstr>c) CantidadSociosPorMembresia</vt:lpstr>
      <vt:lpstr>d) RenovarMembresia</vt:lpstr>
      <vt:lpstr>e) EliminarSociosSinDias</vt:lpstr>
      <vt:lpstr>Conclusiones: Pruebas: positivas, negativas y de borde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yaniela</dc:creator>
  <cp:lastModifiedBy>DELL</cp:lastModifiedBy>
  <cp:revision>6</cp:revision>
  <dcterms:created xsi:type="dcterms:W3CDTF">2024-09-04T19:51:03Z</dcterms:created>
  <dcterms:modified xsi:type="dcterms:W3CDTF">2026-10-12T18:22:29Z</dcterms:modified>
</cp:coreProperties>
</file>